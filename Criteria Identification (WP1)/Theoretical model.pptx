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0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3447" autoAdjust="0"/>
  </p:normalViewPr>
  <p:slideViewPr>
    <p:cSldViewPr snapToGrid="0">
      <p:cViewPr varScale="1">
        <p:scale>
          <a:sx n="59" d="100"/>
          <a:sy n="59" d="100"/>
        </p:scale>
        <p:origin x="836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02D0F-93D6-B331-2F85-EF26A3703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0A8E69-1091-E444-7749-A035360A12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91B2B-7B08-87D5-8AA0-DF019759C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AF8DA-E66D-452D-8EE2-4500D4D7C72D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A71D9-BD0D-9B02-1759-68D6B8ED9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3C7C3-CA83-99D1-5C92-469F3A791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3FE9A-365F-4686-ADDA-74B921993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363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0E2F6-6894-9602-4A7C-C37A8E570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6362B-50C2-A572-805D-FE5603AC5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34C92-0D8A-EAAA-E70A-2080589BA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AF8DA-E66D-452D-8EE2-4500D4D7C72D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7A653-F33D-58CE-B606-8B871C41F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A14DE-69CC-EB70-1385-E5BC1CFA4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3FE9A-365F-4686-ADDA-74B921993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328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C77D9-E0F3-4AEE-B1E2-77F24BF24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3839B-D993-38D0-307E-681B83EB9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57144-5A31-9A57-8AC2-17D9C878D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AF8DA-E66D-452D-8EE2-4500D4D7C72D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C1817-7EEB-77F0-A08B-EAFD0BE56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4795D-C4BF-B12A-575F-8BAE3B950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3FE9A-365F-4686-ADDA-74B921993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68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DFFA6-28F4-AC8B-45E2-514844B0C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A8788-F9E7-F207-3F78-EFCC5D02F4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7823D6-2BB2-B3A9-A040-83995315E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D5C9F9-E314-955A-23F2-BA60873D8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AF8DA-E66D-452D-8EE2-4500D4D7C72D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863F58-7C26-EB0B-1F06-69CE907AC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2B9B35-6092-0E26-0768-53BC17BAC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3FE9A-365F-4686-ADDA-74B921993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657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580A7-FAB8-4F9D-E3C0-FCCA5859D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9250B-E222-93E9-7C41-A54AB0946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009AA4-BF65-C1FC-7233-A710C4D673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E12AE0-8254-6E89-DE14-CF02ADD991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85BA9A-0B1F-7132-5A49-AD9C0D7711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26D4BA-2AC9-0ED2-C08F-4257775E0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AF8DA-E66D-452D-8EE2-4500D4D7C72D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3FD8F5-AD55-7903-50BC-A21CB8FFA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F814DE-D341-AEE2-792C-E4AD00C1D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3FE9A-365F-4686-ADDA-74B921993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890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E34F5-B9E3-F78E-6918-98ADB32ED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32972F-684D-755E-0AFA-3CDE53AC3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AF8DA-E66D-452D-8EE2-4500D4D7C72D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136543-4171-248C-7CA5-3D8ABE857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77A0A9-B43E-AA2C-9E91-4C8EF6224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3FE9A-365F-4686-ADDA-74B921993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609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F91902-289E-FA41-9E3C-5EE855EA6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AF8DA-E66D-452D-8EE2-4500D4D7C72D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784118-B7C5-FFD7-4EAC-82AF28B9F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261162-231F-61E4-2785-CE6A15D42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3FE9A-365F-4686-ADDA-74B921993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036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9102A-8F71-3475-4257-90D61B6AA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4F16E-1AF9-1381-0FAA-FA59081A6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D3121B-8121-D477-58CC-B8C2FE45BF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A9A9D3-7B07-9986-8616-8B043EFA5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AF8DA-E66D-452D-8EE2-4500D4D7C72D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E54A94-694A-81BC-3F0E-A381D1D2D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FF0CAA-52A9-3C1D-3A6F-897C650C6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3FE9A-365F-4686-ADDA-74B921993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160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FE3D0-AD2B-43ED-4249-57900FB79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B9FD16-5161-E2D4-CA58-8E62D0EBF2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D0AEA7-12B7-86B5-8FB5-11634C14A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9982D0-0238-5CF1-9CEA-2700A8F21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AF8DA-E66D-452D-8EE2-4500D4D7C72D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CE3069-E232-1032-24A4-F5F577BBD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B68202-D1BF-E9F9-8779-20444EB42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3FE9A-365F-4686-ADDA-74B921993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698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CE4CC-B45A-0D73-AACC-A3097EC15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F68525-AF67-B270-B836-4344F79DEE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95D86-7682-E046-EA64-53FA3F94E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AF8DA-E66D-452D-8EE2-4500D4D7C72D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7C272-B8B8-5F86-0A46-B275F3410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85D80-3D7D-5471-DC46-69B38DFA5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3FE9A-365F-4686-ADDA-74B921993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073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A9CEB2-5013-7DE6-1EE5-BEFB33C03F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ABAA5F-33DC-83AD-5C77-F7E0DEA53D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15816-D211-65E1-CA4A-109D42383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AF8DA-E66D-452D-8EE2-4500D4D7C72D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CE0BE-5442-22AA-77CA-7B3CAAB23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C9A9D-88EE-19A8-658E-4386BDE3C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3FE9A-365F-4686-ADDA-74B921993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211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1B3D1E-0A5E-DB71-9A7D-937898B95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BEB5E-DB19-24EE-B8F6-F31E0F909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DD454-716A-1350-093C-333D21A472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FAF8DA-E66D-452D-8EE2-4500D4D7C72D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38B28-5BAF-04E1-868F-8F4CC13445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D13F6-220B-0F59-94E2-38C8C83BAC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43FE9A-365F-4686-ADDA-74B921993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259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F5D3AAB-743B-4A24-91C9-8DD7DE035D8E}"/>
              </a:ext>
            </a:extLst>
          </p:cNvPr>
          <p:cNvSpPr/>
          <p:nvPr/>
        </p:nvSpPr>
        <p:spPr>
          <a:xfrm>
            <a:off x="3869871" y="1219200"/>
            <a:ext cx="4452257" cy="44196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8D062FF-9FA5-5E53-D079-1DEBC5BFD730}"/>
              </a:ext>
            </a:extLst>
          </p:cNvPr>
          <p:cNvSpPr/>
          <p:nvPr/>
        </p:nvSpPr>
        <p:spPr>
          <a:xfrm>
            <a:off x="2903845" y="566056"/>
            <a:ext cx="2683405" cy="271054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Technical Sustainability</a:t>
            </a:r>
          </a:p>
          <a:p>
            <a:pPr algn="ctr"/>
            <a:endParaRPr lang="en-US" sz="1600" dirty="0"/>
          </a:p>
          <a:p>
            <a:pPr algn="ctr"/>
            <a:r>
              <a:rPr lang="en-US" sz="1600" dirty="0"/>
              <a:t>Grid Connectivity</a:t>
            </a:r>
          </a:p>
          <a:p>
            <a:pPr algn="ctr"/>
            <a:r>
              <a:rPr lang="en-US" sz="1600" dirty="0"/>
              <a:t>Energy Efficiency </a:t>
            </a:r>
          </a:p>
          <a:p>
            <a:pPr algn="ctr"/>
            <a:r>
              <a:rPr lang="en-US" sz="1600" dirty="0"/>
              <a:t>Future Expansion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7F69AF-4668-495E-B577-E855B507DCB2}"/>
              </a:ext>
            </a:extLst>
          </p:cNvPr>
          <p:cNvSpPr/>
          <p:nvPr/>
        </p:nvSpPr>
        <p:spPr>
          <a:xfrm>
            <a:off x="6626521" y="533399"/>
            <a:ext cx="2683405" cy="2710543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Social Acceptance</a:t>
            </a:r>
          </a:p>
          <a:p>
            <a:pPr algn="ctr"/>
            <a:endParaRPr lang="en-US" sz="1600" dirty="0"/>
          </a:p>
          <a:p>
            <a:pPr algn="ctr"/>
            <a:r>
              <a:rPr lang="en-US" sz="1600" dirty="0"/>
              <a:t>Community Impact </a:t>
            </a:r>
          </a:p>
          <a:p>
            <a:pPr algn="ctr"/>
            <a:r>
              <a:rPr lang="en-US" sz="1600" dirty="0"/>
              <a:t>Policy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2F83D03-EEEF-BBCB-112F-FA690FBAF131}"/>
              </a:ext>
            </a:extLst>
          </p:cNvPr>
          <p:cNvSpPr/>
          <p:nvPr/>
        </p:nvSpPr>
        <p:spPr>
          <a:xfrm>
            <a:off x="2903845" y="3558348"/>
            <a:ext cx="2683404" cy="271054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Economic Viability</a:t>
            </a:r>
          </a:p>
          <a:p>
            <a:pPr algn="ctr"/>
            <a:endParaRPr lang="en-US" sz="1600" dirty="0"/>
          </a:p>
          <a:p>
            <a:pPr algn="ctr"/>
            <a:r>
              <a:rPr lang="en-US" sz="1600" dirty="0"/>
              <a:t>Investment</a:t>
            </a:r>
          </a:p>
          <a:p>
            <a:pPr algn="ctr"/>
            <a:r>
              <a:rPr lang="en-US" sz="1600" dirty="0"/>
              <a:t>Infrastructure</a:t>
            </a:r>
          </a:p>
          <a:p>
            <a:pPr algn="ctr"/>
            <a:r>
              <a:rPr lang="en-US" sz="1600" dirty="0"/>
              <a:t> Land Costs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55A3664-04E1-40DC-5A37-334335541767}"/>
              </a:ext>
            </a:extLst>
          </p:cNvPr>
          <p:cNvSpPr/>
          <p:nvPr/>
        </p:nvSpPr>
        <p:spPr>
          <a:xfrm>
            <a:off x="6626520" y="3558347"/>
            <a:ext cx="2683405" cy="269965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Environmental Feasibility</a:t>
            </a:r>
          </a:p>
          <a:p>
            <a:pPr algn="ctr"/>
            <a:endParaRPr lang="en-US" sz="1600" dirty="0"/>
          </a:p>
          <a:p>
            <a:pPr algn="ctr"/>
            <a:r>
              <a:rPr lang="en-US" sz="1600" dirty="0"/>
              <a:t>Climate</a:t>
            </a:r>
          </a:p>
          <a:p>
            <a:pPr algn="ctr"/>
            <a:r>
              <a:rPr lang="en-US" sz="1600" dirty="0"/>
              <a:t>Topography</a:t>
            </a:r>
          </a:p>
          <a:p>
            <a:pPr algn="ctr"/>
            <a:r>
              <a:rPr lang="en-US" sz="1600" dirty="0"/>
              <a:t> Land Use</a:t>
            </a:r>
          </a:p>
        </p:txBody>
      </p:sp>
    </p:spTree>
    <p:extLst>
      <p:ext uri="{BB962C8B-B14F-4D97-AF65-F5344CB8AC3E}">
        <p14:creationId xmlns:p14="http://schemas.microsoft.com/office/powerpoint/2010/main" val="452474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A1051-C4A9-DF32-6DE0-419938FE6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D43556D-0754-1036-46FA-C50F370C484B}"/>
              </a:ext>
            </a:extLst>
          </p:cNvPr>
          <p:cNvSpPr/>
          <p:nvPr/>
        </p:nvSpPr>
        <p:spPr>
          <a:xfrm>
            <a:off x="8691807" y="2012574"/>
            <a:ext cx="2683405" cy="3462941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600" b="1" dirty="0"/>
              <a:t>Social Acceptance</a:t>
            </a:r>
          </a:p>
          <a:p>
            <a:pPr algn="ctr"/>
            <a:endParaRPr lang="en-US" sz="1600" dirty="0"/>
          </a:p>
          <a:p>
            <a:pPr algn="ctr"/>
            <a:r>
              <a:rPr lang="en-US" sz="1600" dirty="0"/>
              <a:t>Community Impact </a:t>
            </a:r>
          </a:p>
          <a:p>
            <a:pPr algn="ctr"/>
            <a:r>
              <a:rPr lang="en-US" sz="1600" dirty="0"/>
              <a:t>Policy</a:t>
            </a:r>
          </a:p>
          <a:p>
            <a:pPr algn="ctr"/>
            <a:endParaRPr lang="en-US" sz="16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0A1C4D2-5549-F6EC-27B8-8DEAD4A1B4CB}"/>
              </a:ext>
            </a:extLst>
          </p:cNvPr>
          <p:cNvSpPr/>
          <p:nvPr/>
        </p:nvSpPr>
        <p:spPr>
          <a:xfrm>
            <a:off x="4496245" y="2073728"/>
            <a:ext cx="2683404" cy="340178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600" b="1" dirty="0"/>
              <a:t>Economic Viability</a:t>
            </a:r>
          </a:p>
          <a:p>
            <a:pPr algn="ctr"/>
            <a:endParaRPr lang="en-US" sz="1600" dirty="0"/>
          </a:p>
          <a:p>
            <a:pPr algn="ctr"/>
            <a:r>
              <a:rPr lang="en-US" sz="1600" dirty="0"/>
              <a:t>Investment</a:t>
            </a:r>
          </a:p>
          <a:p>
            <a:pPr algn="ctr"/>
            <a:r>
              <a:rPr lang="en-US" sz="1600" dirty="0"/>
              <a:t>Infrastructure</a:t>
            </a:r>
          </a:p>
          <a:p>
            <a:pPr algn="ctr"/>
            <a:r>
              <a:rPr lang="en-US" sz="1600" dirty="0"/>
              <a:t> Land Costs</a:t>
            </a:r>
          </a:p>
          <a:p>
            <a:pPr algn="ctr"/>
            <a:endParaRPr lang="en-US" sz="1600" dirty="0"/>
          </a:p>
          <a:p>
            <a:pPr algn="ctr"/>
            <a:r>
              <a:rPr lang="en-US" sz="1600" b="1" dirty="0"/>
              <a:t>Technical Sustainability</a:t>
            </a:r>
          </a:p>
          <a:p>
            <a:pPr algn="ctr"/>
            <a:endParaRPr lang="en-US" sz="1600" dirty="0"/>
          </a:p>
          <a:p>
            <a:pPr algn="ctr"/>
            <a:r>
              <a:rPr lang="en-US" sz="1600" dirty="0"/>
              <a:t>Grid Connectivity</a:t>
            </a:r>
          </a:p>
          <a:p>
            <a:pPr algn="ctr"/>
            <a:r>
              <a:rPr lang="en-US" sz="1600" dirty="0"/>
              <a:t>Energy Efficiency </a:t>
            </a:r>
          </a:p>
          <a:p>
            <a:pPr algn="ctr"/>
            <a:r>
              <a:rPr lang="en-US" sz="1600" dirty="0"/>
              <a:t>Future Expansion</a:t>
            </a:r>
          </a:p>
          <a:p>
            <a:pPr algn="ctr"/>
            <a:endParaRPr lang="en-US" sz="16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A684A3B-105C-C7CA-3877-7AEB43F148BD}"/>
              </a:ext>
            </a:extLst>
          </p:cNvPr>
          <p:cNvSpPr/>
          <p:nvPr/>
        </p:nvSpPr>
        <p:spPr>
          <a:xfrm>
            <a:off x="300683" y="2073729"/>
            <a:ext cx="2683405" cy="340178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600" b="1" dirty="0"/>
              <a:t>Environmental Feasibility</a:t>
            </a:r>
          </a:p>
          <a:p>
            <a:pPr algn="ctr"/>
            <a:endParaRPr lang="en-US" sz="1600" dirty="0"/>
          </a:p>
          <a:p>
            <a:pPr algn="ctr"/>
            <a:r>
              <a:rPr lang="en-US" sz="1600" dirty="0"/>
              <a:t>Climate</a:t>
            </a:r>
          </a:p>
          <a:p>
            <a:pPr algn="ctr"/>
            <a:r>
              <a:rPr lang="en-US" sz="1600" dirty="0"/>
              <a:t>Topography</a:t>
            </a:r>
          </a:p>
          <a:p>
            <a:pPr algn="ctr"/>
            <a:r>
              <a:rPr lang="en-US" sz="1600" dirty="0"/>
              <a:t> Land Use</a:t>
            </a:r>
          </a:p>
          <a:p>
            <a:pPr algn="ctr"/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FD52C2F-6CD1-5E7A-9E36-3AB46CA85145}"/>
              </a:ext>
            </a:extLst>
          </p:cNvPr>
          <p:cNvSpPr/>
          <p:nvPr/>
        </p:nvSpPr>
        <p:spPr>
          <a:xfrm>
            <a:off x="300683" y="424542"/>
            <a:ext cx="2683405" cy="140297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Phase 1: </a:t>
            </a:r>
            <a:r>
              <a:rPr lang="en-US" sz="1600" dirty="0"/>
              <a:t>Primary Exclusionary Screening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8F2221F-4E9E-D725-7C39-F83ACE5901E4}"/>
              </a:ext>
            </a:extLst>
          </p:cNvPr>
          <p:cNvSpPr/>
          <p:nvPr/>
        </p:nvSpPr>
        <p:spPr>
          <a:xfrm>
            <a:off x="4496245" y="424542"/>
            <a:ext cx="2683405" cy="140297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Phase 2: T</a:t>
            </a:r>
            <a:r>
              <a:rPr lang="en-US" sz="1600" dirty="0"/>
              <a:t>echnical and Economic Optimization 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E8B2A60-7D8F-44D6-40F4-6353BD4722B7}"/>
              </a:ext>
            </a:extLst>
          </p:cNvPr>
          <p:cNvSpPr/>
          <p:nvPr/>
        </p:nvSpPr>
        <p:spPr>
          <a:xfrm>
            <a:off x="8691807" y="424542"/>
            <a:ext cx="2683405" cy="140297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Phase 3: </a:t>
            </a:r>
            <a:r>
              <a:rPr lang="en-US" sz="1600" dirty="0"/>
              <a:t>Socio-Climatic Validation 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B876F708-31EB-0E5A-16E4-A15FC4B9D2F2}"/>
              </a:ext>
            </a:extLst>
          </p:cNvPr>
          <p:cNvSpPr/>
          <p:nvPr/>
        </p:nvSpPr>
        <p:spPr>
          <a:xfrm>
            <a:off x="3272081" y="456559"/>
            <a:ext cx="936171" cy="133894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D10C04EB-55AA-8A43-E611-94C365D20EE9}"/>
              </a:ext>
            </a:extLst>
          </p:cNvPr>
          <p:cNvSpPr/>
          <p:nvPr/>
        </p:nvSpPr>
        <p:spPr>
          <a:xfrm>
            <a:off x="7467643" y="488577"/>
            <a:ext cx="936171" cy="133894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43937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BC072-40FB-C560-2E57-67E52A2D7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Sustainability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AE215-A27C-E8FE-6584-EADFBE5F7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These factors determine how efficiently a solar farm can integrate into the existing energy infrastructure: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Distance to Transmission Lines → Shorter distances reduce energy losses and costs</a:t>
            </a:r>
            <a:r>
              <a:rPr lang="en-US" sz="18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(Distance from borders).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Proximity to Substations → Closer substations improve grid stability and lower connection costs.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Grid Infrastructure Capacity → The ability of the grid to handle additional solar energy without costly upgrades.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Distance to Roads → Needed for transporting equipment and maintenance access (if grid-related development is needed).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920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52D31-654A-DE3F-D730-E28D09B85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A14BF-8877-62E6-CA0A-10DBC0EDF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Sustainability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B12AA-E060-F9FE-D66E-8F3A3F79C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Energy Efficiency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These factors influence how much energy can be generated from solar panels in a given location: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Solar Radiation (GHI, DNI) → Higher radiation levels improve energy yield.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Temperature &amp; Climate Conditions → Extreme temperatures can impact PV panel efficiency.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Topography (Slope &amp; Elevation) → Steep slopes may reduce efficiency by affecting panel placement.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Land Cover &amp; Albedo Effect → Some surfaces reflect more sunlight, impacting efficiency.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Air Pollution/Dust Levels → High dust levels can reduce solar panel efficiency by blocking sunlight.</a:t>
            </a:r>
          </a:p>
        </p:txBody>
      </p:sp>
    </p:spTree>
    <p:extLst>
      <p:ext uri="{BB962C8B-B14F-4D97-AF65-F5344CB8AC3E}">
        <p14:creationId xmlns:p14="http://schemas.microsoft.com/office/powerpoint/2010/main" val="1448074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F0DFC-6DBC-76D3-BDB8-2A2016B09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DEBD5-5F67-9D31-B02B-17B282BAC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Sustainability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AB7E3-B887-C2B6-5B2E-B6C9E8693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Future Expansion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These factors ensure long-term viability and scalability: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Land Availability → Sufficient open space for expanding solar farms.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Land Use Restrictions → Policies affecting whether land can be repurposed for solar projects.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Infrastructure Expandability → Whether roads, substations, and grid infrastructure can support future growth.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Policy &amp; Regulatory Environment → Incentives and support for future solar expansion.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strike="sngStrike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Energy Storage Potential  → The feasibility of adding battery storage for excess energy.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923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6C4CD-2114-A3F3-47C5-3A6D99D54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288BD-5B71-D1D3-AB99-207198C3C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Economic Viability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D809E-13DC-7EC2-FE6A-07BAEF681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Investment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These factors relate to financial feasibility and attractiveness for investors: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Capital Cost of Installation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→ High upfront costs may discourage development.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Return on Investment (ROI)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→ Expected profitability influences investor interest.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Policy Incentives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→ Subsidies, tax credits, or feed-in tariffs improve financial appeal.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Cost-Benefit Analysis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→ Studies that weigh benefits vs. costs for location optimization.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Support Mechanisms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→ Government or private support for renewable projects (e.g., loans, guarantees).</a:t>
            </a:r>
          </a:p>
        </p:txBody>
      </p:sp>
    </p:spTree>
    <p:extLst>
      <p:ext uri="{BB962C8B-B14F-4D97-AF65-F5344CB8AC3E}">
        <p14:creationId xmlns:p14="http://schemas.microsoft.com/office/powerpoint/2010/main" val="2476446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9AAF0-777A-4DF6-DEDB-5D1465740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6DF02-78CE-42C7-34C7-F1F1237BD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Economic Viability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2EB2C-4350-738F-B7D0-C1F0E6921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Infrastructure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Infrastructure determines ease of project deployment and operation: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Proximity to Transmission Lines → Reduces costs for new infrastructure.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Proximity to Roads/Ports → Critical for transporting materials and maintenance.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Access to Utilities → Availability of water or telecom (if considered) for operations.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Power Line Capacity</a:t>
            </a:r>
            <a:r>
              <a:rPr lang="en-US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→ Ability to accommodate electricity generated.</a:t>
            </a:r>
          </a:p>
        </p:txBody>
      </p:sp>
    </p:spTree>
    <p:extLst>
      <p:ext uri="{BB962C8B-B14F-4D97-AF65-F5344CB8AC3E}">
        <p14:creationId xmlns:p14="http://schemas.microsoft.com/office/powerpoint/2010/main" val="4153195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15A1C-A4B1-E2D1-C1E5-4C52C1A6E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1D1DB-B18A-1340-0C3D-32218CD9B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Economic Viability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45D88-FEF7-C9E2-A8EA-CD40C91EA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Land Costs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Land affordability significantly impacts feasibility: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Land Price per m² or ha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→ Higher costs may deter investment.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Opportunity Cost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→ Trade-offs between land for solar vs. agriculture or urban use.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Land Ownership Type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→ Public vs. private land may influence pricing and permissions.</a:t>
            </a:r>
          </a:p>
        </p:txBody>
      </p:sp>
    </p:spTree>
    <p:extLst>
      <p:ext uri="{BB962C8B-B14F-4D97-AF65-F5344CB8AC3E}">
        <p14:creationId xmlns:p14="http://schemas.microsoft.com/office/powerpoint/2010/main" val="1411098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1C52C-C31A-ADC0-432D-494CBFD06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5C5D1-3C96-B772-C5A5-FD0FB3704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Acceptance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7E700-4019-1BF2-A09B-71D69F9EC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Community Impact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Factors related to how solar farms affect nearby residents: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Visual Impact/Aesthetic Concerns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→ May lead to resistance if projects affect views.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Employment Opportunities</a:t>
            </a:r>
            <a:r>
              <a:rPr lang="en-US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→ Perceived benefits can increase acceptance.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Noise, Glare, or Land Use Conflict</a:t>
            </a:r>
            <a:r>
              <a:rPr lang="en-US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→ May generate opposition if not managed.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Health &amp; Safety Concerns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→ Misconceptions or real issues may affect support.</a:t>
            </a:r>
          </a:p>
        </p:txBody>
      </p:sp>
    </p:spTree>
    <p:extLst>
      <p:ext uri="{BB962C8B-B14F-4D97-AF65-F5344CB8AC3E}">
        <p14:creationId xmlns:p14="http://schemas.microsoft.com/office/powerpoint/2010/main" val="1110881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33C35-F7CF-9A93-676E-E1D8980F4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1D441-475F-7698-C838-871C1AC5C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Acceptance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8FBAE-8CB0-FDCE-A4E1-524B658AC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Land Ownership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 affects land acquisition and legal complexity: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Public vs. Private Ownership</a:t>
            </a:r>
            <a:r>
              <a:rPr lang="en-US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→ Impacts ease of lease or purchase.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Fragmented Land Holdings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→ Complicates large-scale development.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Traditional or Customary Rights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→ Particularly relevant in developing countries.</a:t>
            </a:r>
          </a:p>
        </p:txBody>
      </p:sp>
    </p:spTree>
    <p:extLst>
      <p:ext uri="{BB962C8B-B14F-4D97-AF65-F5344CB8AC3E}">
        <p14:creationId xmlns:p14="http://schemas.microsoft.com/office/powerpoint/2010/main" val="1149061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4C995-B314-885B-CD26-6B62B2FE7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84D78-896E-00FD-85F6-E9EEF0C48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Acceptance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EA292-25DB-A251-E580-6490EA8B7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Policy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Social acceptance is shaped by policy frameworks: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Local Zoning Regulations</a:t>
            </a:r>
            <a:r>
              <a:rPr lang="en-US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→ Determine what types of developments are allowed.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Public Participation in Planning → Enhances legitimacy and reduces conflict.(same as local zoning regulations, people choose plans).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Fair Compensation Laws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→ Ensure communities benefit from land use.</a:t>
            </a:r>
          </a:p>
        </p:txBody>
      </p:sp>
    </p:spTree>
    <p:extLst>
      <p:ext uri="{BB962C8B-B14F-4D97-AF65-F5344CB8AC3E}">
        <p14:creationId xmlns:p14="http://schemas.microsoft.com/office/powerpoint/2010/main" val="3026331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CCADB-6300-448B-56C1-AF762156D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E8840-F344-C872-1CCD-6FEE76B94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Environmental Feasibility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01C7A-18E5-2090-4B2C-99703621D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Climate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Climate conditions directly affect solar generation potential: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Global Horizontal Irradiation (GHI) → Key to estimating solar yield.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Direct Normal Irradiation (DNI) → Important for CSP or fixed-tilt systems.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Cloud Cover, Humidity, Rainfall → May reduce energy production.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Temperature Extremes → Affect panel efficiency and performance.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119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B5A4C-5359-577E-2D9B-A816F9B85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F6B3B-7EF0-5CA7-B1A1-6C6ACE6D9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Environmental Feasibility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FBE4A-547F-CCA9-D154-371D6DC71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Topography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Topographic suitability influences construction ease and panel placement: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Slope → Flat or gently sloped land is preferred for stability and cost.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Elevation → May affect irradiance, wind exposure, or access.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Terrain Ruggedness → Steep or uneven terrain raises construction costs.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9174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DA97D-5099-5A5A-4113-373A3AA3C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13B96-4517-3E7A-8A52-CE57FBBE4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Environmental Feasibility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FB13A-D0C6-24A3-A5E5-5145E9FB6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Land Use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 suitability of current land use types: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Abandoned Land, or Desert Areas → Often favored for solar farms.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Agricultural Land Conflicts → May be avoided or dual-use (agrivoltaics) considered.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Protected Areas, Forests, or Wetlands → Typically excluded due to regulation.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Land Use Compatibility → Whether solar installations align with broader land plans.</a:t>
            </a:r>
            <a:endParaRPr lang="en-US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331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39101</TotalTime>
  <Words>879</Words>
  <Application>Microsoft Office PowerPoint</Application>
  <PresentationFormat>Widescreen</PresentationFormat>
  <Paragraphs>124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Symbol</vt:lpstr>
      <vt:lpstr>Times New Roman</vt:lpstr>
      <vt:lpstr>Office Theme</vt:lpstr>
      <vt:lpstr>PowerPoint Presentation</vt:lpstr>
      <vt:lpstr>PowerPoint Presentation</vt:lpstr>
      <vt:lpstr>Technical Sustainability</vt:lpstr>
      <vt:lpstr>Technical Sustainability</vt:lpstr>
      <vt:lpstr>Technical Sustainability</vt:lpstr>
      <vt:lpstr>Economic Viability</vt:lpstr>
      <vt:lpstr>Economic Viability</vt:lpstr>
      <vt:lpstr>Economic Viability</vt:lpstr>
      <vt:lpstr>Social Acceptance</vt:lpstr>
      <vt:lpstr>Social Acceptance</vt:lpstr>
      <vt:lpstr>Social Acceptance</vt:lpstr>
      <vt:lpstr>Environmental Feasibility</vt:lpstr>
      <vt:lpstr>Environmental Feasibility</vt:lpstr>
      <vt:lpstr>Environmental Feasibility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Mariam Kasradze</dc:creator>
  <cp:lastModifiedBy>Mariam Kasradze</cp:lastModifiedBy>
  <cp:revision>8</cp:revision>
  <dcterms:created xsi:type="dcterms:W3CDTF">2025-03-07T14:20:37Z</dcterms:created>
  <dcterms:modified xsi:type="dcterms:W3CDTF">2026-01-26T20:20:38Z</dcterms:modified>
</cp:coreProperties>
</file>